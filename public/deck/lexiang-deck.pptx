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联想乐享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1717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联想乐享 5.0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下一代的乐享，应该是什么样子？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35204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从「人找货」到「</a:t>
            </a:r>
            <a:pPr algn="l" indent="0" marL="0">
              <a:buNone/>
            </a:pPr>
            <a:r>
              <a:rPr lang="en-US" sz="46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帮你办</a:t>
            </a:r>
            <a:pPr algn="l" indent="0" marL="0">
              <a:buNone/>
            </a:pPr>
            <a:r>
              <a:rPr lang="en-US" sz="46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4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联想乐享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1717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452628"/>
            <a:ext cx="246888" cy="32004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 · 目录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85855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3444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42316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423160" y="1709928"/>
            <a:ext cx="8808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下一代乐享：会干活的 AI 管家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11185855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51460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423160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23160" y="2990088"/>
            <a:ext cx="8808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今天网购难在哪，大模型带来什么机会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11185855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79476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42316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423160" y="4270248"/>
            <a:ext cx="8808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五个方法论：从定功能到全权代办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51206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最后：价值与展望 · 真机演示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联想乐享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1717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452628"/>
            <a:ext cx="246888" cy="32004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· 是什么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不是聊天窗，是</a:t>
            </a:r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会干活</a:t>
            </a:r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 AI 管家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41148" cy="1417320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8" name="Shape 6"/>
          <p:cNvSpPr/>
          <p:nvPr/>
        </p:nvSpPr>
        <p:spPr>
          <a:xfrm>
            <a:off x="544068" y="1554480"/>
            <a:ext cx="4439412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3D0E3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164592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不是给电商加一个聊天窗，而是把「导购员 + 客服 + 跑腿员」装进产品：买东西、办售后、查门店、用会员，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说一句话，剩下它来办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。右侧为真实生产环境运行画面。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44805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63500" dist="12700" dir="5400000">
              <a:srgbClr val="3D0E3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" y="3470148"/>
            <a:ext cx="329184" cy="329184"/>
          </a:xfrm>
          <a:prstGeom prst="roundRect">
            <a:avLst>
              <a:gd name="adj" fmla="val 77778"/>
            </a:avLst>
          </a:prstGeom>
          <a:solidFill>
            <a:srgbClr val="F4EDF8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848" y="3227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对话是入口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9848" y="3483864"/>
            <a:ext cx="374904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说人话就行，不用学怎么用。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61104"/>
            <a:ext cx="44805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63500" dist="12700" dir="5400000">
              <a:srgbClr val="3D0E37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" y="4576572"/>
            <a:ext cx="329184" cy="329184"/>
          </a:xfrm>
          <a:prstGeom prst="roundRect">
            <a:avLst>
              <a:gd name="adj" fmla="val 77778"/>
            </a:avLst>
          </a:prstGeom>
          <a:solidFill>
            <a:srgbClr val="F4EDF8"/>
          </a:solidFill>
          <a:ln/>
        </p:spPr>
      </p:sp>
      <p:sp>
        <p:nvSpPr>
          <p:cNvPr id="16" name="Text 14"/>
          <p:cNvSpPr/>
          <p:nvPr/>
        </p:nvSpPr>
        <p:spPr>
          <a:xfrm>
            <a:off x="1069848" y="43342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操作是主体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9848" y="4590288"/>
            <a:ext cx="374904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不止回答，直接替你打开页面、对比、下单、办服务。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5367528"/>
            <a:ext cx="44805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63500" dist="12700" dir="5400000">
              <a:srgbClr val="3D0E37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" y="5682996"/>
            <a:ext cx="329184" cy="329184"/>
          </a:xfrm>
          <a:prstGeom prst="roundRect">
            <a:avLst>
              <a:gd name="adj" fmla="val 77778"/>
            </a:avLst>
          </a:prstGeom>
          <a:solidFill>
            <a:srgbClr val="F4EDF8"/>
          </a:solidFill>
          <a:ln/>
        </p:spPr>
      </p:sp>
      <p:sp>
        <p:nvSpPr>
          <p:cNvPr id="20" name="Text 18"/>
          <p:cNvSpPr/>
          <p:nvPr/>
        </p:nvSpPr>
        <p:spPr>
          <a:xfrm>
            <a:off x="1069848" y="5440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决策留给人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9848" y="5696712"/>
            <a:ext cx="374904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每一步可见、可打断，最终拍板永远是你。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1554480"/>
            <a:ext cx="6385255" cy="4709160"/>
          </a:xfrm>
          <a:prstGeom prst="roundRect">
            <a:avLst>
              <a:gd name="adj" fmla="val 583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127000" dist="38100" dir="5400000">
              <a:srgbClr val="3D0E37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0" y="1554480"/>
            <a:ext cx="6385255" cy="292608"/>
          </a:xfrm>
          <a:prstGeom prst="rect">
            <a:avLst/>
          </a:prstGeom>
          <a:solidFill>
            <a:srgbClr val="F1ECF5"/>
          </a:solidFill>
          <a:ln/>
        </p:spPr>
      </p:sp>
      <p:sp>
        <p:nvSpPr>
          <p:cNvPr id="24" name="Shape 22"/>
          <p:cNvSpPr/>
          <p:nvPr/>
        </p:nvSpPr>
        <p:spPr>
          <a:xfrm>
            <a:off x="5449824" y="1659636"/>
            <a:ext cx="82296" cy="82296"/>
          </a:xfrm>
          <a:prstGeom prst="ellipse">
            <a:avLst/>
          </a:prstGeom>
          <a:solidFill>
            <a:srgbClr val="E2231A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650992" y="1659636"/>
            <a:ext cx="82296" cy="82296"/>
          </a:xfrm>
          <a:prstGeom prst="ellipse">
            <a:avLst/>
          </a:prstGeom>
          <a:solidFill>
            <a:srgbClr val="D8B23F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852160" y="1659636"/>
            <a:ext cx="82296" cy="82296"/>
          </a:xfrm>
          <a:prstGeom prst="ellipse">
            <a:avLst/>
          </a:prstGeom>
          <a:solidFill>
            <a:srgbClr val="58A055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1554480"/>
            <a:ext cx="63852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leaibot.cn</a:t>
            </a:r>
            <a:endParaRPr lang="en-US" sz="950" dirty="0"/>
          </a:p>
        </p:txBody>
      </p:sp>
      <p:pic>
        <p:nvPicPr>
          <p:cNvPr id="28" name="Image 0" descr="/opt/projects/lexiang/public/deck/img/shot-conver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21808" y="1847088"/>
            <a:ext cx="6348679" cy="4398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联想乐享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1717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452628"/>
            <a:ext cx="246888" cy="32004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· 问题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今天网购一台电脑，要自己走完七步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72726" y="1691640"/>
            <a:ext cx="658368" cy="658368"/>
          </a:xfrm>
          <a:prstGeom prst="ellipse">
            <a:avLst/>
          </a:prstGeom>
          <a:solidFill>
            <a:srgbClr val="F4EDF8"/>
          </a:solidFill>
          <a:ln/>
        </p:spPr>
      </p:sp>
      <p:sp>
        <p:nvSpPr>
          <p:cNvPr id="8" name="Text 6"/>
          <p:cNvSpPr/>
          <p:nvPr/>
        </p:nvSpPr>
        <p:spPr>
          <a:xfrm>
            <a:off x="972726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3270" y="2404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611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打开电商网站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963739" y="187452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BF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70705" y="1691640"/>
            <a:ext cx="658368" cy="658368"/>
          </a:xfrm>
          <a:prstGeom prst="ellipse">
            <a:avLst/>
          </a:prstGeom>
          <a:solidFill>
            <a:srgbClr val="F4EDF8"/>
          </a:solidFill>
          <a:ln/>
        </p:spPr>
      </p:sp>
      <p:sp>
        <p:nvSpPr>
          <p:cNvPr id="13" name="Text 11"/>
          <p:cNvSpPr/>
          <p:nvPr/>
        </p:nvSpPr>
        <p:spPr>
          <a:xfrm>
            <a:off x="2570705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51249" y="2404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14089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搜「笔记本」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61719" y="187452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BF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68684" y="1691640"/>
            <a:ext cx="658368" cy="658368"/>
          </a:xfrm>
          <a:prstGeom prst="ellipse">
            <a:avLst/>
          </a:prstGeom>
          <a:solidFill>
            <a:srgbClr val="E2231A"/>
          </a:solidFill>
          <a:ln/>
        </p:spPr>
      </p:sp>
      <p:sp>
        <p:nvSpPr>
          <p:cNvPr id="18" name="Text 16"/>
          <p:cNvSpPr/>
          <p:nvPr/>
        </p:nvSpPr>
        <p:spPr>
          <a:xfrm>
            <a:off x="4168684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49228" y="2404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2068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几千个结果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59698" y="187452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BF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66664" y="1691640"/>
            <a:ext cx="658368" cy="658368"/>
          </a:xfrm>
          <a:prstGeom prst="ellipse">
            <a:avLst/>
          </a:prstGeom>
          <a:solidFill>
            <a:srgbClr val="F4EDF8"/>
          </a:solidFill>
          <a:ln/>
        </p:spPr>
      </p:sp>
      <p:sp>
        <p:nvSpPr>
          <p:cNvPr id="23" name="Text 21"/>
          <p:cNvSpPr/>
          <p:nvPr/>
        </p:nvSpPr>
        <p:spPr>
          <a:xfrm>
            <a:off x="5766664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47208" y="2404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10048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加筛选、排序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57677" y="187452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BF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64643" y="1691640"/>
            <a:ext cx="658368" cy="658368"/>
          </a:xfrm>
          <a:prstGeom prst="ellipse">
            <a:avLst/>
          </a:prstGeom>
          <a:solidFill>
            <a:srgbClr val="F4EDF8"/>
          </a:solidFill>
          <a:ln/>
        </p:spPr>
      </p:sp>
      <p:sp>
        <p:nvSpPr>
          <p:cNvPr id="28" name="Text 26"/>
          <p:cNvSpPr/>
          <p:nvPr/>
        </p:nvSpPr>
        <p:spPr>
          <a:xfrm>
            <a:off x="7364643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45187" y="2404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08027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逐个看参数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355657" y="187452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BF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962622" y="1691640"/>
            <a:ext cx="658368" cy="658368"/>
          </a:xfrm>
          <a:prstGeom prst="ellipse">
            <a:avLst/>
          </a:prstGeom>
          <a:solidFill>
            <a:srgbClr val="F4EDF8"/>
          </a:solidFill>
          <a:ln/>
        </p:spPr>
      </p:sp>
      <p:sp>
        <p:nvSpPr>
          <p:cNvPr id="33" name="Text 31"/>
          <p:cNvSpPr/>
          <p:nvPr/>
        </p:nvSpPr>
        <p:spPr>
          <a:xfrm>
            <a:off x="8962622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43166" y="2404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06006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翻评价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953636" y="187452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BF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560602" y="1691640"/>
            <a:ext cx="658368" cy="658368"/>
          </a:xfrm>
          <a:prstGeom prst="ellipse">
            <a:avLst/>
          </a:prstGeom>
          <a:solidFill>
            <a:srgbClr val="F4EDF8"/>
          </a:solidFill>
          <a:ln/>
        </p:spPr>
      </p:sp>
      <p:sp>
        <p:nvSpPr>
          <p:cNvPr id="38" name="Text 36"/>
          <p:cNvSpPr/>
          <p:nvPr/>
        </p:nvSpPr>
        <p:spPr>
          <a:xfrm>
            <a:off x="10560602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341146" y="2404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203986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跨店比价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02920" y="3035808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走完这七步，最后还要再赌一把：</a:t>
            </a:r>
            <a:pPr algn="ctr" indent="0" marL="0">
              <a:buNone/>
            </a:pPr>
            <a:r>
              <a:rPr lang="en-US" sz="125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要不要等大促？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02920" y="3584448"/>
            <a:ext cx="3545738" cy="2724912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5800" y="3767328"/>
            <a:ext cx="292608" cy="292608"/>
          </a:xfrm>
          <a:prstGeom prst="roundRect">
            <a:avLst>
              <a:gd name="adj" fmla="val 78125"/>
            </a:avLst>
          </a:prstGeom>
          <a:solidFill>
            <a:srgbClr val="E2231A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3767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69848" y="374904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决策成本全在用户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85800" y="4151376"/>
            <a:ext cx="3179978" cy="2039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搜索、筛选、比较、验证、择时——每一步都要用户自己动手、自己判断，平台只负责「陈列」。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322978" y="3584448"/>
            <a:ext cx="3545738" cy="2724912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05858" y="3767328"/>
            <a:ext cx="292608" cy="292608"/>
          </a:xfrm>
          <a:prstGeom prst="roundRect">
            <a:avLst>
              <a:gd name="adj" fmla="val 78125"/>
            </a:avLst>
          </a:prstGeom>
          <a:solidFill>
            <a:srgbClr val="E2231A"/>
          </a:solidFill>
          <a:ln/>
        </p:spPr>
      </p:sp>
      <p:sp>
        <p:nvSpPr>
          <p:cNvPr id="49" name="Text 47"/>
          <p:cNvSpPr/>
          <p:nvPr/>
        </p:nvSpPr>
        <p:spPr>
          <a:xfrm>
            <a:off x="4505858" y="3767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889906" y="374904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选择过载，难以取舍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4505858" y="4151376"/>
            <a:ext cx="3179978" cy="2039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「笔记本」搜出几千个 SKU，参数、配置、价格档位交叉，不熟悉参数的用户难以判断哪款适合自己。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143037" y="3584448"/>
            <a:ext cx="3545738" cy="2724912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325917" y="3767328"/>
            <a:ext cx="292608" cy="292608"/>
          </a:xfrm>
          <a:prstGeom prst="roundRect">
            <a:avLst>
              <a:gd name="adj" fmla="val 78125"/>
            </a:avLst>
          </a:prstGeom>
          <a:solidFill>
            <a:srgbClr val="E2231A"/>
          </a:solidFill>
          <a:ln/>
        </p:spPr>
      </p:sp>
      <p:sp>
        <p:nvSpPr>
          <p:cNvPr id="54" name="Text 52"/>
          <p:cNvSpPr/>
          <p:nvPr/>
        </p:nvSpPr>
        <p:spPr>
          <a:xfrm>
            <a:off x="8325917" y="3767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709965" y="374904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有了对话框，不知道怎么开口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8325917" y="4151376"/>
            <a:ext cx="3179978" cy="2039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就算给了 AI 入口，真实场景里相当一部分人第一句话就卡住——需求在脑子里，说不成一句完整的话。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联想乐享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1717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452628"/>
            <a:ext cx="246888" cy="32004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· 机会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大模型把交互方向倒了过来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585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815688"/>
                <a:gridCol w="481568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B83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传统电商 · 人找货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223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乐享 5.0 · AI 帮你办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0E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找商品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F6879"/>
                          </a:solidFill>
                          <a:highlight>
                            <a:srgbClr val="E7E1EC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3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自己搜、自己筛、自己排序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01600" marT="101600" marB="101600" anchor="ctr">
                    <a:lnL w="12700" cap="flat" cmpd="sng" algn="ctr">
                      <a:solidFill>
                        <a:srgbClr val="DE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highlight>
                            <a:srgbClr val="E2231A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3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听懂需求，直接给候选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01600" marT="101600" marB="101600" anchor="ctr">
                    <a:lnL w="12700" cap="flat" cmpd="sng" algn="ctr">
                      <a:solidFill>
                        <a:srgbClr val="E2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0E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比较选款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F6879"/>
                          </a:solidFill>
                          <a:highlight>
                            <a:srgbClr val="E7E1EC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3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逐个比参数、翻评价、比价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01600" marT="101600" marB="101600" anchor="ctr">
                    <a:lnL w="12700" cap="flat" cmpd="sng" algn="ctr">
                      <a:solidFill>
                        <a:srgbClr val="DE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highlight>
                            <a:srgbClr val="E2231A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3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自动对比、自动选款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01600" marT="101600" marB="101600" anchor="ctr">
                    <a:lnL w="12700" cap="flat" cmpd="sng" algn="ctr">
                      <a:solidFill>
                        <a:srgbClr val="E2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0E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F6879"/>
                          </a:solidFill>
                          <a:highlight>
                            <a:srgbClr val="E7E1EC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3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领券规则自己研究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01600" marT="101600" marB="101600" anchor="ctr">
                    <a:lnL w="12700" cap="flat" cmpd="sng" algn="ctr">
                      <a:solidFill>
                        <a:srgbClr val="DE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highlight>
                            <a:srgbClr val="E2231A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3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自动领取、自动叠加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01600" marT="101600" marB="101600" anchor="ctr">
                    <a:lnL w="12700" cap="flat" cmpd="sng" algn="ctr">
                      <a:solidFill>
                        <a:srgbClr val="E2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0E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下单决策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F6879"/>
                          </a:solidFill>
                          <a:highlight>
                            <a:srgbClr val="E7E1EC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3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反复比较、难以决定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01600" marT="101600" marB="101600" anchor="ctr">
                    <a:lnL w="12700" cap="flat" cmpd="sng" algn="ctr">
                      <a:solidFill>
                        <a:srgbClr val="DE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highlight>
                            <a:srgbClr val="5B1452"/>
                          </a:highlight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43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只剩拍板——AI 已备好一切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01600" marT="101600" marB="101600" anchor="ctr">
                    <a:lnL w="12700" cap="flat" cmpd="sng" algn="ctr">
                      <a:solidFill>
                        <a:srgbClr val="E2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571500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用户只做两件事：</a:t>
            </a:r>
            <a:pPr algn="ctr" indent="0" marL="0">
              <a:buNone/>
            </a:pPr>
            <a:r>
              <a:rPr lang="en-US" sz="135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说出需求、确认拍板</a:t>
            </a:r>
            <a:pPr algn="ctr" indent="0" marL="0">
              <a:buNone/>
            </a:pPr>
            <a:r>
              <a:rPr lang="en-US" sz="135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——中间的活 </a:t>
            </a:r>
            <a:pPr algn="ctr" indent="0" marL="0">
              <a:buNone/>
            </a:pPr>
            <a:r>
              <a:rPr lang="en-US" sz="13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全包</a:t>
            </a:r>
            <a:pPr algn="ctr" indent="0" marL="0">
              <a:buNone/>
            </a:pPr>
            <a:r>
              <a:rPr lang="en-US" sz="135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，让用户把时间花在</a:t>
            </a:r>
            <a:pPr algn="ctr" indent="0" marL="0">
              <a:buNone/>
            </a:pPr>
            <a:r>
              <a:rPr lang="en-US" sz="135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真正的决策</a:t>
            </a:r>
            <a:pPr algn="ctr" indent="0" marL="0">
              <a:buNone/>
            </a:pPr>
            <a:r>
              <a:rPr lang="en-US" sz="135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联想乐享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1717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452628"/>
            <a:ext cx="246888" cy="32004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· 总览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五个方法论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090867" cy="3063240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87947" y="16733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E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04088" y="1874520"/>
            <a:ext cx="384048" cy="384048"/>
          </a:xfrm>
          <a:prstGeom prst="roundRect">
            <a:avLst>
              <a:gd name="adj" fmla="val 66667"/>
            </a:avLst>
          </a:prstGeom>
          <a:solidFill>
            <a:srgbClr val="F4EDF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23160"/>
            <a:ext cx="1725107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数据驱动定功能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1725107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六万条真实提问聚类，以占比定优先级，而非竞品清单。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76667" y="1600200"/>
            <a:ext cx="2090867" cy="3063240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61694" y="16733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E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977835" y="1874520"/>
            <a:ext cx="384048" cy="384048"/>
          </a:xfrm>
          <a:prstGeom prst="roundRect">
            <a:avLst>
              <a:gd name="adj" fmla="val 66667"/>
            </a:avLst>
          </a:prstGeom>
          <a:solidFill>
            <a:srgbClr val="F4EDF8"/>
          </a:solidFill>
          <a:ln/>
        </p:spPr>
      </p:sp>
      <p:sp>
        <p:nvSpPr>
          <p:cNvPr id="15" name="Text 13"/>
          <p:cNvSpPr/>
          <p:nvPr/>
        </p:nvSpPr>
        <p:spPr>
          <a:xfrm>
            <a:off x="2959547" y="2423160"/>
            <a:ext cx="1725107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三通道意图分流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959547" y="2926080"/>
            <a:ext cx="1725107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本地规则毫秒级、小模型路由口语、官方 SKILL 管复杂能力。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50414" y="1600200"/>
            <a:ext cx="2090867" cy="3063240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35441" y="16733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E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251582" y="1874520"/>
            <a:ext cx="384048" cy="384048"/>
          </a:xfrm>
          <a:prstGeom prst="roundRect">
            <a:avLst>
              <a:gd name="adj" fmla="val 66667"/>
            </a:avLst>
          </a:prstGeom>
          <a:solidFill>
            <a:srgbClr val="F4EDF8"/>
          </a:solidFill>
          <a:ln/>
        </p:spPr>
      </p:sp>
      <p:sp>
        <p:nvSpPr>
          <p:cNvPr id="20" name="Text 18"/>
          <p:cNvSpPr/>
          <p:nvPr/>
        </p:nvSpPr>
        <p:spPr>
          <a:xfrm>
            <a:off x="5233294" y="2423160"/>
            <a:ext cx="1725107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预判用户的预判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33294" y="2926080"/>
            <a:ext cx="1725107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全程跟随用户视角：引导说清需求、备好下一步，快速转化。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24161" y="1600200"/>
            <a:ext cx="2090867" cy="3063240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09188" y="16733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E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7525329" y="1874520"/>
            <a:ext cx="384048" cy="384048"/>
          </a:xfrm>
          <a:prstGeom prst="roundRect">
            <a:avLst>
              <a:gd name="adj" fmla="val 66667"/>
            </a:avLst>
          </a:prstGeom>
          <a:solidFill>
            <a:srgbClr val="F4EDF8"/>
          </a:solidFill>
          <a:ln/>
        </p:spPr>
      </p:sp>
      <p:sp>
        <p:nvSpPr>
          <p:cNvPr id="25" name="Text 23"/>
          <p:cNvSpPr/>
          <p:nvPr/>
        </p:nvSpPr>
        <p:spPr>
          <a:xfrm>
            <a:off x="7507041" y="2423160"/>
            <a:ext cx="1725107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对话即操作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07041" y="2926080"/>
            <a:ext cx="1725107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说话就是操作，AI 说到哪、页面展示到哪。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97908" y="1600200"/>
            <a:ext cx="2090867" cy="3063240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682935" y="16733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EE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9799076" y="1874520"/>
            <a:ext cx="384048" cy="384048"/>
          </a:xfrm>
          <a:prstGeom prst="roundRect">
            <a:avLst>
              <a:gd name="adj" fmla="val 66667"/>
            </a:avLst>
          </a:prstGeom>
          <a:solidFill>
            <a:srgbClr val="F4EDF8"/>
          </a:solidFill>
          <a:ln/>
        </p:spPr>
      </p:sp>
      <p:sp>
        <p:nvSpPr>
          <p:cNvPr id="30" name="Text 28"/>
          <p:cNvSpPr/>
          <p:nvPr/>
        </p:nvSpPr>
        <p:spPr>
          <a:xfrm>
            <a:off x="9780788" y="2423160"/>
            <a:ext cx="1725107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多步任务链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780788" y="2926080"/>
            <a:ext cx="1725107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一句话走完推荐→对比→选款→下单，过程全可视。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4937760"/>
            <a:ext cx="11185855" cy="1417320"/>
          </a:xfrm>
          <a:prstGeom prst="roundRect">
            <a:avLst>
              <a:gd name="adj" fmla="val 3871"/>
            </a:avLst>
          </a:prstGeom>
          <a:solidFill>
            <a:srgbClr val="F4EDF8"/>
          </a:solidFill>
          <a:ln w="19050">
            <a:solidFill>
              <a:srgbClr val="C9AED3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731520" y="5490972"/>
            <a:ext cx="841248" cy="292608"/>
          </a:xfrm>
          <a:prstGeom prst="roundRect">
            <a:avLst>
              <a:gd name="adj" fmla="val 156250"/>
            </a:avLst>
          </a:prstGeom>
          <a:solidFill>
            <a:srgbClr val="5B1452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490972"/>
            <a:ext cx="841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用户视角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892808" y="4937760"/>
            <a:ext cx="225468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用户说话
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界面随之而变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84650" y="4937760"/>
            <a:ext cx="225468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用户犹豫
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乐享主动提示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6492" y="4937760"/>
            <a:ext cx="225468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用户回看
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脉络清晰可溯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068333" y="4937760"/>
            <a:ext cx="225468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用户决策
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理由量身定制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联想乐享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1717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452628"/>
            <a:ext cx="246888" cy="32004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· 方法论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功能优先级，是</a:t>
            </a:r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</a:t>
            </a:r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出来的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947662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664208"/>
            <a:ext cx="26184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61,049</a:t>
            </a:r>
            <a:pPr indent="0" marL="0">
              <a:buNone/>
            </a:pPr>
            <a:r>
              <a:rPr lang="en-US" sz="1300" b="1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67512" y="2103120"/>
            <a:ext cx="26184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脱敏真实用户提问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7512" y="2395728"/>
            <a:ext cx="26184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官方一级标注统计 · 功能优先级的唯一依据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33462" y="1554480"/>
            <a:ext cx="2563184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8054" y="1664208"/>
            <a:ext cx="223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49.8</a:t>
            </a:r>
            <a:pPr indent="0" marL="0">
              <a:buNone/>
            </a:pPr>
            <a:r>
              <a:rPr lang="en-US" sz="1300" b="1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98054" y="2103120"/>
            <a:ext cx="223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电商导购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98054" y="2395728"/>
            <a:ext cx="2234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 26%、硬件参数 5.9%、对比… → 引导漏斗 + 推荐链路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79526" y="1554480"/>
            <a:ext cx="2563184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44118" y="1664208"/>
            <a:ext cx="223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20.6</a:t>
            </a:r>
            <a:pPr indent="0" marL="0">
              <a:buNone/>
            </a:pPr>
            <a:r>
              <a:rPr lang="en-US" sz="1300" b="1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44118" y="2103120"/>
            <a:ext cx="223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44118" y="2395728"/>
            <a:ext cx="2234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售后咨询 8.6%、驱动系统 4.1%、保修 2.3%… → 售后引导做进输入框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25591" y="1554480"/>
            <a:ext cx="2563184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90183" y="1664208"/>
            <a:ext cx="223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20.5</a:t>
            </a:r>
            <a:pPr indent="0" marL="0">
              <a:buNone/>
            </a:pPr>
            <a:r>
              <a:rPr lang="en-US" sz="1300" b="1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290183" y="2103120"/>
            <a:ext cx="223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 + 门店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90183" y="2395728"/>
            <a:ext cx="2234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教育优惠 4.4%、门店查询 5.8%、人工 2.2%… → 全部一词秒回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3136392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注：其余 9.1% 为通用咨询、多模态等。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520440"/>
            <a:ext cx="5455768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520440"/>
            <a:ext cx="5455768" cy="54864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" y="3721608"/>
            <a:ext cx="2194560" cy="292608"/>
          </a:xfrm>
          <a:prstGeom prst="roundRect">
            <a:avLst>
              <a:gd name="adj" fmla="val 156250"/>
            </a:avLst>
          </a:prstGeom>
          <a:solidFill>
            <a:srgbClr val="E2231A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" y="372160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买的一半 · GMV 主线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04088" y="4206240"/>
            <a:ext cx="50534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49.8% 的人在买东西——做法一条链：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识别购买意图 → 逐级引导 → 引到下单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。引导的终极形态就是「多步任务链」：1.1% 的用户直接开口要“自主下单”，一句话直达订单。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33008" y="3520440"/>
            <a:ext cx="5455768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33008" y="3520440"/>
            <a:ext cx="5455768" cy="54864"/>
          </a:xfrm>
          <a:prstGeom prst="rect">
            <a:avLst/>
          </a:prstGeom>
          <a:solidFill>
            <a:srgbClr val="5B1452"/>
          </a:solidFill>
          <a:ln/>
        </p:spPr>
      </p:sp>
      <p:sp>
        <p:nvSpPr>
          <p:cNvPr id="31" name="Shape 29"/>
          <p:cNvSpPr/>
          <p:nvPr/>
        </p:nvSpPr>
        <p:spPr>
          <a:xfrm>
            <a:off x="6434176" y="3721608"/>
            <a:ext cx="2011680" cy="292608"/>
          </a:xfrm>
          <a:prstGeom prst="roundRect">
            <a:avLst>
              <a:gd name="adj" fmla="val 156250"/>
            </a:avLst>
          </a:prstGeom>
          <a:solidFill>
            <a:srgbClr val="5B1452"/>
          </a:solidFill>
          <a:ln/>
        </p:spPr>
      </p:sp>
      <p:sp>
        <p:nvSpPr>
          <p:cNvPr id="32" name="Text 30"/>
          <p:cNvSpPr/>
          <p:nvPr/>
        </p:nvSpPr>
        <p:spPr>
          <a:xfrm>
            <a:off x="6434176" y="37216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问的一半 · 体验线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34176" y="4206240"/>
            <a:ext cx="50534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41.1% 在问服务、会员、门店——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高频短词全部本地秒回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：查保修、找门店、要人工，零等待。体验做顺，买的转化才有土壤。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联想乐享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1717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452628"/>
            <a:ext cx="246888" cy="32004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· 方法论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一句话进来，</a:t>
            </a:r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三条通道</a:t>
            </a:r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分流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5B145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402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用户开口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说一句话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08960" y="1600200"/>
            <a:ext cx="8579815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1600200"/>
            <a:ext cx="54864" cy="685800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655064"/>
            <a:ext cx="44615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spc="100" kern="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什么情况
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高频确定指令——开页 / 切站 / 认证 / 人工 / 序号下单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827858" y="1769364"/>
            <a:ext cx="2230752" cy="347472"/>
          </a:xfrm>
          <a:prstGeom prst="roundRect">
            <a:avLst>
              <a:gd name="adj" fmla="val 39474"/>
            </a:avLst>
          </a:prstGeom>
          <a:solidFill>
            <a:srgbClr val="F4EDF8"/>
          </a:solidFill>
          <a:ln/>
        </p:spPr>
      </p:sp>
      <p:sp>
        <p:nvSpPr>
          <p:cNvPr id="13" name="Text 11"/>
          <p:cNvSpPr/>
          <p:nvPr/>
        </p:nvSpPr>
        <p:spPr>
          <a:xfrm>
            <a:off x="7827858" y="1769364"/>
            <a:ext cx="2230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本地规则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144408" y="1600200"/>
            <a:ext cx="154436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毫秒级 · 零模型成本 · 断网可用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08960" y="2432304"/>
            <a:ext cx="8579815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2432304"/>
            <a:ext cx="54864" cy="685800"/>
          </a:xfrm>
          <a:prstGeom prst="rect">
            <a:avLst/>
          </a:prstGeom>
          <a:solidFill>
            <a:srgbClr val="5B1452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128" y="2487168"/>
            <a:ext cx="44615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spc="100" kern="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什么情况
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口语化操作，意图要「听懂」——“嗯…那就这台吧，优惠都领了”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827858" y="2601468"/>
            <a:ext cx="2230752" cy="347472"/>
          </a:xfrm>
          <a:prstGeom prst="roundRect">
            <a:avLst>
              <a:gd name="adj" fmla="val 39474"/>
            </a:avLst>
          </a:prstGeom>
          <a:solidFill>
            <a:srgbClr val="F4EDF8"/>
          </a:solidFill>
          <a:ln/>
        </p:spPr>
      </p:sp>
      <p:sp>
        <p:nvSpPr>
          <p:cNvPr id="19" name="Text 17"/>
          <p:cNvSpPr/>
          <p:nvPr/>
        </p:nvSpPr>
        <p:spPr>
          <a:xfrm>
            <a:off x="7827858" y="2601468"/>
            <a:ext cx="2230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小模型意图路由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144408" y="2432304"/>
            <a:ext cx="154436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 · 泛化口语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08960" y="3264408"/>
            <a:ext cx="8579815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3264408"/>
            <a:ext cx="54864" cy="685800"/>
          </a:xfrm>
          <a:prstGeom prst="rect">
            <a:avLst/>
          </a:prstGeom>
          <a:solidFill>
            <a:srgbClr val="3D0E37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3319272"/>
            <a:ext cx="44615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spc="100" kern="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什么情况
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复杂能力——推荐 / 知识 / 会员 / 多步任务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27858" y="3433572"/>
            <a:ext cx="2230752" cy="347472"/>
          </a:xfrm>
          <a:prstGeom prst="roundRect">
            <a:avLst>
              <a:gd name="adj" fmla="val 39474"/>
            </a:avLst>
          </a:prstGeom>
          <a:solidFill>
            <a:srgbClr val="F4EDF8"/>
          </a:solidFill>
          <a:ln/>
        </p:spPr>
      </p:sp>
      <p:sp>
        <p:nvSpPr>
          <p:cNvPr id="25" name="Text 23"/>
          <p:cNvSpPr/>
          <p:nvPr/>
        </p:nvSpPr>
        <p:spPr>
          <a:xfrm>
            <a:off x="7827858" y="3433572"/>
            <a:ext cx="2230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官方 SKILL + 自研编排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144408" y="3264408"/>
            <a:ext cx="154436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能力最全 · 有兜底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 flipV="1">
            <a:off x="2468880" y="1943100"/>
            <a:ext cx="594360" cy="754380"/>
          </a:xfrm>
          <a:prstGeom prst="line">
            <a:avLst/>
          </a:prstGeom>
          <a:noFill/>
          <a:ln w="19050">
            <a:solidFill>
              <a:srgbClr val="C9BF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2697480"/>
            <a:ext cx="594360" cy="77724"/>
          </a:xfrm>
          <a:prstGeom prst="line">
            <a:avLst/>
          </a:prstGeom>
          <a:noFill/>
          <a:ln w="19050">
            <a:solidFill>
              <a:srgbClr val="C9BF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2697480"/>
            <a:ext cx="594360" cy="909828"/>
          </a:xfrm>
          <a:prstGeom prst="line">
            <a:avLst/>
          </a:prstGeom>
          <a:noFill/>
          <a:ln w="19050">
            <a:solidFill>
              <a:srgbClr val="C9BF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416552"/>
            <a:ext cx="1554480" cy="292608"/>
          </a:xfrm>
          <a:prstGeom prst="roundRect">
            <a:avLst>
              <a:gd name="adj" fmla="val 156250"/>
            </a:avLst>
          </a:prstGeom>
          <a:solidFill>
            <a:srgbClr val="5B1452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41655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过程全透明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437344" y="4489704"/>
            <a:ext cx="128016" cy="128016"/>
          </a:xfrm>
          <a:prstGeom prst="ellipse">
            <a:avLst/>
          </a:prstGeom>
          <a:solidFill>
            <a:srgbClr val="F4EDF8"/>
          </a:solidFill>
          <a:ln w="19050">
            <a:solidFill>
              <a:srgbClr val="5B14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4636008"/>
            <a:ext cx="224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正在判断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583648" y="4553712"/>
            <a:ext cx="2174672" cy="914"/>
          </a:xfrm>
          <a:prstGeom prst="line">
            <a:avLst/>
          </a:prstGeom>
          <a:noFill/>
          <a:ln w="19050">
            <a:solidFill>
              <a:srgbClr val="D9CF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76608" y="4489704"/>
            <a:ext cx="128016" cy="128016"/>
          </a:xfrm>
          <a:prstGeom prst="ellipse">
            <a:avLst/>
          </a:prstGeom>
          <a:solidFill>
            <a:srgbClr val="F4EDF8"/>
          </a:solidFill>
          <a:ln w="19050">
            <a:solidFill>
              <a:srgbClr val="5B14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16704" y="4636008"/>
            <a:ext cx="224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已判断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22912" y="4553712"/>
            <a:ext cx="2174672" cy="914"/>
          </a:xfrm>
          <a:prstGeom prst="line">
            <a:avLst/>
          </a:prstGeom>
          <a:noFill/>
          <a:ln w="19050">
            <a:solidFill>
              <a:srgbClr val="D9CF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15871" y="4489704"/>
            <a:ext cx="128016" cy="128016"/>
          </a:xfrm>
          <a:prstGeom prst="ellipse">
            <a:avLst/>
          </a:prstGeom>
          <a:solidFill>
            <a:srgbClr val="F4EDF8"/>
          </a:solidFill>
          <a:ln w="19050">
            <a:solidFill>
              <a:srgbClr val="5B14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5968" y="4636008"/>
            <a:ext cx="224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正在调用 XX SKILL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62176" y="4553712"/>
            <a:ext cx="2174672" cy="914"/>
          </a:xfrm>
          <a:prstGeom prst="line">
            <a:avLst/>
          </a:prstGeom>
          <a:noFill/>
          <a:ln w="19050">
            <a:solidFill>
              <a:srgbClr val="D9CF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55135" y="4489704"/>
            <a:ext cx="128016" cy="128016"/>
          </a:xfrm>
          <a:prstGeom prst="ellipse">
            <a:avLst/>
          </a:prstGeom>
          <a:solidFill>
            <a:srgbClr val="E2231A"/>
          </a:solidFill>
          <a:ln w="19050">
            <a:solidFill>
              <a:srgbClr val="E223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95231" y="4636008"/>
            <a:ext cx="224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2920" y="50109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思考时间线实时可见，答完自动折叠成一行；快指令不进大模型——等待与成本都省下来。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联想乐享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1717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452628"/>
            <a:ext cx="246888" cy="32004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· 方法论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预判用户的预判：</a:t>
            </a:r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替用户把需求问清楚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47862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1783080"/>
            <a:ext cx="1188720" cy="292608"/>
          </a:xfrm>
          <a:prstGeom prst="roundRect">
            <a:avLst>
              <a:gd name="adj" fmla="val 156250"/>
            </a:avLst>
          </a:prstGeom>
          <a:solidFill>
            <a:srgbClr val="F4EDF8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7830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开口之前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4088" y="2167128"/>
            <a:ext cx="50762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输入引导漏斗 + 场景词秒弹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04088" y="2560320"/>
            <a:ext cx="50762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打两个字「推荐」，品类→用途→预算逐级点选拼成完整需求；「以旧换新」「国补」「清灰」「认证」等高频词一打出就弹对应引导——词表全部来自六万条提问聚类。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0148" y="1600200"/>
            <a:ext cx="547862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11316" y="1783080"/>
            <a:ext cx="1188720" cy="292608"/>
          </a:xfrm>
          <a:prstGeom prst="roundRect">
            <a:avLst>
              <a:gd name="adj" fmla="val 156250"/>
            </a:avLst>
          </a:prstGeom>
          <a:solidFill>
            <a:srgbClr val="F4ED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11316" y="17830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浏览页面时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11316" y="2167128"/>
            <a:ext cx="50762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情境预判 + 停留钩子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11316" y="2560320"/>
            <a:ext cx="50762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结合右侧当前打开的页面，把模糊短词补全成可执行指令；商品详情停留片刻主动递「算到手价」、久看未动再递「找相似」——替代满屏常驻按钮。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886200"/>
            <a:ext cx="547862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" y="4069080"/>
            <a:ext cx="1188720" cy="292608"/>
          </a:xfrm>
          <a:prstGeom prst="roundRect">
            <a:avLst>
              <a:gd name="adj" fmla="val 156250"/>
            </a:avLst>
          </a:prstGeom>
          <a:solidFill>
            <a:srgbClr val="F4EDF8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" y="40690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回答之后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04088" y="4453128"/>
            <a:ext cx="50762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「猜你想干」追问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04088" y="4846320"/>
            <a:ext cx="50762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每次回答后固定给 3 个下一步建议，可执行操作排最前（如「对比第 1、2、3 款」「打开第 1 款」），本地秒显、点了立刻执行；咨询型建议由模型异步补齐。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0148" y="3886200"/>
            <a:ext cx="547862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11316" y="4069080"/>
            <a:ext cx="1188720" cy="292608"/>
          </a:xfrm>
          <a:prstGeom prst="roundRect">
            <a:avLst>
              <a:gd name="adj" fmla="val 156250"/>
            </a:avLst>
          </a:prstGeom>
          <a:solidFill>
            <a:srgbClr val="F4EDF8"/>
          </a:solidFill>
          <a:ln/>
        </p:spPr>
      </p:sp>
      <p:sp>
        <p:nvSpPr>
          <p:cNvPr id="24" name="Text 22"/>
          <p:cNvSpPr/>
          <p:nvPr/>
        </p:nvSpPr>
        <p:spPr>
          <a:xfrm>
            <a:off x="6411316" y="40690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多轮对话中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11316" y="4453128"/>
            <a:ext cx="50762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槽位记忆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11316" y="4846320"/>
            <a:ext cx="50762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说过「预算 7000」，后面追问自动带上；「对比一下」自动带上上一轮推荐的商品——用户忘了说的，系统替他记着。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0807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预判贯穿全旅程：开口之前、浏览之中、回答之后、多轮之间——「让用户会提问」本身就是产品能力，引导是转化的第一级漏斗。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联想乐享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1717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452628"/>
            <a:ext cx="246888" cy="32004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· 方法论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对话即操作：</a:t>
            </a:r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说话 = 点击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一次购物走下来，每个环节都是一句话的事：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2645588" cy="4069080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039112"/>
            <a:ext cx="2352980" cy="292608"/>
          </a:xfrm>
          <a:prstGeom prst="roundRect">
            <a:avLst>
              <a:gd name="adj" fmla="val 156250"/>
            </a:avLst>
          </a:prstGeom>
          <a:solidFill>
            <a:srgbClr val="F4EDF8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2039112"/>
            <a:ext cx="23529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浏览挑选时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9224" y="2496312"/>
            <a:ext cx="2352980" cy="1051560"/>
          </a:xfrm>
          <a:prstGeom prst="roundRect">
            <a:avLst>
              <a:gd name="adj" fmla="val 8696"/>
            </a:avLst>
          </a:prstGeom>
          <a:solidFill>
            <a:srgbClr val="5B1452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2551176"/>
            <a:ext cx="213352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“对比第 1、3 款，哪个屏幕好？”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" y="3703320"/>
            <a:ext cx="23529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乐享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所见即所得——AI 说到哪、右侧页面展示到哪：商品墙、参数对比表随对话实时联动。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49676" y="1874520"/>
            <a:ext cx="2645588" cy="4069080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95980" y="2039112"/>
            <a:ext cx="2352980" cy="292608"/>
          </a:xfrm>
          <a:prstGeom prst="roundRect">
            <a:avLst>
              <a:gd name="adj" fmla="val 156250"/>
            </a:avLst>
          </a:prstGeom>
          <a:solidFill>
            <a:srgbClr val="F4EDF8"/>
          </a:solidFill>
          <a:ln/>
        </p:spPr>
      </p:sp>
      <p:sp>
        <p:nvSpPr>
          <p:cNvPr id="16" name="Text 14"/>
          <p:cNvSpPr/>
          <p:nvPr/>
        </p:nvSpPr>
        <p:spPr>
          <a:xfrm>
            <a:off x="3495980" y="2039112"/>
            <a:ext cx="23529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下指令时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95980" y="2496312"/>
            <a:ext cx="2352980" cy="1051560"/>
          </a:xfrm>
          <a:prstGeom prst="roundRect">
            <a:avLst>
              <a:gd name="adj" fmla="val 8696"/>
            </a:avLst>
          </a:prstGeom>
          <a:solidFill>
            <a:srgbClr val="5B1452"/>
          </a:solidFill>
          <a:ln/>
        </p:spPr>
      </p:sp>
      <p:sp>
        <p:nvSpPr>
          <p:cNvPr id="18" name="Text 16"/>
          <p:cNvSpPr/>
          <p:nvPr/>
        </p:nvSpPr>
        <p:spPr>
          <a:xfrm>
            <a:off x="3605708" y="2551176"/>
            <a:ext cx="213352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“第三个不错，就买它吧”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95980" y="3703320"/>
            <a:ext cx="23529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乐享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口语直达闭环——导航、比较、下单、全屏一句话完成，序号按屏幕所见顺序数。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6432" y="1874520"/>
            <a:ext cx="2645588" cy="4069080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42736" y="2039112"/>
            <a:ext cx="2352980" cy="292608"/>
          </a:xfrm>
          <a:prstGeom prst="roundRect">
            <a:avLst>
              <a:gd name="adj" fmla="val 156250"/>
            </a:avLst>
          </a:prstGeom>
          <a:solidFill>
            <a:srgbClr val="F4EDF8"/>
          </a:solidFill>
          <a:ln/>
        </p:spPr>
      </p:sp>
      <p:sp>
        <p:nvSpPr>
          <p:cNvPr id="22" name="Text 20"/>
          <p:cNvSpPr/>
          <p:nvPr/>
        </p:nvSpPr>
        <p:spPr>
          <a:xfrm>
            <a:off x="6342736" y="2039112"/>
            <a:ext cx="23529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下单结算时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42736" y="2496312"/>
            <a:ext cx="2352980" cy="1051560"/>
          </a:xfrm>
          <a:prstGeom prst="roundRect">
            <a:avLst>
              <a:gd name="adj" fmla="val 8696"/>
            </a:avLst>
          </a:prstGeom>
          <a:solidFill>
            <a:srgbClr val="5B1452"/>
          </a:solidFill>
          <a:ln/>
        </p:spPr>
      </p:sp>
      <p:sp>
        <p:nvSpPr>
          <p:cNvPr id="24" name="Text 22"/>
          <p:cNvSpPr/>
          <p:nvPr/>
        </p:nvSpPr>
        <p:spPr>
          <a:xfrm>
            <a:off x="6452464" y="2551176"/>
            <a:ext cx="213352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“现在下单有什么优惠？”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42736" y="3703320"/>
            <a:ext cx="23529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乐享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领券自动化——国补、满减、会员折扣自动领取叠加，省多少当场展示。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43187" y="1874520"/>
            <a:ext cx="2645588" cy="4069080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89491" y="2039112"/>
            <a:ext cx="2352980" cy="292608"/>
          </a:xfrm>
          <a:prstGeom prst="roundRect">
            <a:avLst>
              <a:gd name="adj" fmla="val 156250"/>
            </a:avLst>
          </a:prstGeom>
          <a:solidFill>
            <a:srgbClr val="F4EDF8"/>
          </a:solidFill>
          <a:ln/>
        </p:spPr>
      </p:sp>
      <p:sp>
        <p:nvSpPr>
          <p:cNvPr id="28" name="Text 26"/>
          <p:cNvSpPr/>
          <p:nvPr/>
        </p:nvSpPr>
        <p:spPr>
          <a:xfrm>
            <a:off x="9189491" y="2039112"/>
            <a:ext cx="23529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要服务时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89491" y="2496312"/>
            <a:ext cx="2352980" cy="1051560"/>
          </a:xfrm>
          <a:prstGeom prst="roundRect">
            <a:avLst>
              <a:gd name="adj" fmla="val 8696"/>
            </a:avLst>
          </a:prstGeom>
          <a:solidFill>
            <a:srgbClr val="5B1452"/>
          </a:solidFill>
          <a:ln/>
        </p:spPr>
      </p:sp>
      <p:sp>
        <p:nvSpPr>
          <p:cNvPr id="30" name="Text 28"/>
          <p:cNvSpPr/>
          <p:nvPr/>
        </p:nvSpPr>
        <p:spPr>
          <a:xfrm>
            <a:off x="9299219" y="2551176"/>
            <a:ext cx="213352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“认证” / “转人工”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89491" y="3703320"/>
            <a:ext cx="23529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乐享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服务一词直达——秒回身份表单、秒切专属客服，入口不藏菜单。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联想乐享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1717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452628"/>
            <a:ext cx="246888" cy="32004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· 方法论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多步任务链：</a:t>
            </a:r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一句话全权代买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41148" cy="1600200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8" name="Shape 6"/>
          <p:cNvSpPr/>
          <p:nvPr/>
        </p:nvSpPr>
        <p:spPr>
          <a:xfrm>
            <a:off x="544068" y="1554480"/>
            <a:ext cx="4439412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3D0E37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1645920"/>
            <a:ext cx="4069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「给我推荐一款适合大学生的电脑，8000元左右的，挑一款最好的直接下单吧」——一句话，系统自动走完 </a:t>
            </a:r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官方推荐 → 打开对比 → 智能选款 → 生成订单</a:t>
            </a:r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。右侧为真实运行画面，非设计稿。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337560"/>
            <a:ext cx="4480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63500" dist="12700" dir="5400000">
              <a:srgbClr val="3D0E3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" y="3630168"/>
            <a:ext cx="329184" cy="329184"/>
          </a:xfrm>
          <a:prstGeom prst="roundRect">
            <a:avLst>
              <a:gd name="adj" fmla="val 77778"/>
            </a:avLst>
          </a:prstGeom>
          <a:solidFill>
            <a:srgbClr val="F4EDF8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848" y="3410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过程可视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9848" y="3666744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SKILL 的调用与结论逐行展示——AI 不是黑盒。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398264"/>
            <a:ext cx="4480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63500" dist="12700" dir="5400000">
              <a:srgbClr val="3D0E37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" y="4690872"/>
            <a:ext cx="329184" cy="329184"/>
          </a:xfrm>
          <a:prstGeom prst="roundRect">
            <a:avLst>
              <a:gd name="adj" fmla="val 77778"/>
            </a:avLst>
          </a:prstGeom>
          <a:solidFill>
            <a:srgbClr val="F4EDF8"/>
          </a:solidFill>
          <a:ln/>
        </p:spPr>
      </p:sp>
      <p:sp>
        <p:nvSpPr>
          <p:cNvPr id="16" name="Text 14"/>
          <p:cNvSpPr/>
          <p:nvPr/>
        </p:nvSpPr>
        <p:spPr>
          <a:xfrm>
            <a:off x="1069848" y="4471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兜底不卡死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9848" y="4727448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官方超时/空结果自动降级续跑，任何分支都有下文。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5458968"/>
            <a:ext cx="4480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63500" dist="12700" dir="5400000">
              <a:srgbClr val="3D0E37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" y="5751576"/>
            <a:ext cx="329184" cy="329184"/>
          </a:xfrm>
          <a:prstGeom prst="roundRect">
            <a:avLst>
              <a:gd name="adj" fmla="val 77778"/>
            </a:avLst>
          </a:prstGeom>
          <a:solidFill>
            <a:srgbClr val="F4EDF8"/>
          </a:solidFill>
          <a:ln/>
        </p:spPr>
      </p:sp>
      <p:sp>
        <p:nvSpPr>
          <p:cNvPr id="20" name="Text 18"/>
          <p:cNvSpPr/>
          <p:nvPr/>
        </p:nvSpPr>
        <p:spPr>
          <a:xfrm>
            <a:off x="1069848" y="5532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决策留给人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9848" y="578815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终点是「确认支付」弹窗——AI 干活，人拍板，可打断可反悔。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1554480"/>
            <a:ext cx="6385255" cy="4709160"/>
          </a:xfrm>
          <a:prstGeom prst="roundRect">
            <a:avLst>
              <a:gd name="adj" fmla="val 583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127000" dist="38100" dir="5400000">
              <a:srgbClr val="3D0E37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0" y="1554480"/>
            <a:ext cx="6385255" cy="292608"/>
          </a:xfrm>
          <a:prstGeom prst="rect">
            <a:avLst/>
          </a:prstGeom>
          <a:solidFill>
            <a:srgbClr val="F1ECF5"/>
          </a:solidFill>
          <a:ln/>
        </p:spPr>
      </p:sp>
      <p:sp>
        <p:nvSpPr>
          <p:cNvPr id="24" name="Shape 22"/>
          <p:cNvSpPr/>
          <p:nvPr/>
        </p:nvSpPr>
        <p:spPr>
          <a:xfrm>
            <a:off x="5449824" y="1659636"/>
            <a:ext cx="82296" cy="82296"/>
          </a:xfrm>
          <a:prstGeom prst="ellipse">
            <a:avLst/>
          </a:prstGeom>
          <a:solidFill>
            <a:srgbClr val="E2231A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650992" y="1659636"/>
            <a:ext cx="82296" cy="82296"/>
          </a:xfrm>
          <a:prstGeom prst="ellipse">
            <a:avLst/>
          </a:prstGeom>
          <a:solidFill>
            <a:srgbClr val="D8B23F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852160" y="1659636"/>
            <a:ext cx="82296" cy="82296"/>
          </a:xfrm>
          <a:prstGeom prst="ellipse">
            <a:avLst/>
          </a:prstGeom>
          <a:solidFill>
            <a:srgbClr val="58A055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1554480"/>
            <a:ext cx="63852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leaibot.cn</a:t>
            </a:r>
            <a:endParaRPr lang="en-US" sz="950" dirty="0"/>
          </a:p>
        </p:txBody>
      </p:sp>
      <p:pic>
        <p:nvPicPr>
          <p:cNvPr id="28" name="Image 0" descr="/opt/projects/lexiang/public/deck/img/shot-tasklin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21808" y="1847088"/>
            <a:ext cx="6348679" cy="43982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联想乐享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1717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3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452628"/>
            <a:ext cx="246888" cy="32004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价值与展望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这套能力，</a:t>
            </a:r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价值在可复制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45576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" y="1764792"/>
            <a:ext cx="505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不绑定品类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2130552"/>
            <a:ext cx="5053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引导漏斗、意图路由、操作闭环——换成手机、服务、企业方案，架构原样复用，改的只是数据和文案。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1600200"/>
            <a:ext cx="545576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8DDEC"/>
            </a:solidFill>
            <a:prstDash val="solid"/>
          </a:ln>
          <a:effectLst>
            <a:outerShdw sx="100000" sy="100000" kx="0" ky="0" algn="bl" rotWithShape="0" blurRad="76200" dist="25400" dir="5400000">
              <a:srgbClr val="3D0E37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34176" y="1764792"/>
            <a:ext cx="505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0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方法可迁移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34176" y="2130552"/>
            <a:ext cx="5053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两个支撑点都可复制：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数据驱动的功能决策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（拿真实提问聚类定优先级），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分层意图架构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3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（该快的快、该智能的智能、该守边界的守边界）。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429000"/>
            <a:ext cx="41148" cy="1371600"/>
          </a:xfrm>
          <a:prstGeom prst="rect">
            <a:avLst/>
          </a:prstGeom>
          <a:solidFill>
            <a:srgbClr val="E2231A"/>
          </a:solidFill>
          <a:ln/>
        </p:spPr>
      </p:sp>
      <p:sp>
        <p:nvSpPr>
          <p:cNvPr id="14" name="Shape 12"/>
          <p:cNvSpPr/>
          <p:nvPr/>
        </p:nvSpPr>
        <p:spPr>
          <a:xfrm>
            <a:off x="544068" y="3429000"/>
            <a:ext cx="11144707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3D0E37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" y="3520440"/>
            <a:ext cx="1077437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1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回到开头那句话：传统电商是「人找货」，乐享 5.0 做的是「AI 帮你办」——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5B14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用户只负责说出需求、确认决策，剩下的交给乐享。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45575" y="5074920"/>
            <a:ext cx="2743200" cy="502920"/>
          </a:xfrm>
          <a:prstGeom prst="roundRect">
            <a:avLst>
              <a:gd name="adj" fmla="val 90909"/>
            </a:avLst>
          </a:prstGeom>
          <a:solidFill>
            <a:srgbClr val="E2231A"/>
          </a:solidFill>
          <a:ln/>
          <a:effectLst>
            <a:outerShdw sx="100000" sy="100000" kx="0" ky="0" algn="bl" rotWithShape="0" blurRad="127000" dist="38100" dir="5400000">
              <a:srgbClr val="E2231A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45575" y="5074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接下来，真机演示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联想乐享 5.0 · 演示</dc:title>
  <dc:subject>PptxGenJS Presentation</dc:subject>
  <dc:creator>联想乐享</dc:creator>
  <cp:lastModifiedBy>联想乐享</cp:lastModifiedBy>
  <cp:revision>1</cp:revision>
  <dcterms:created xsi:type="dcterms:W3CDTF">2026-08-12T06:48:44Z</dcterms:created>
  <dcterms:modified xsi:type="dcterms:W3CDTF">2026-08-12T06:48:44Z</dcterms:modified>
</cp:coreProperties>
</file>